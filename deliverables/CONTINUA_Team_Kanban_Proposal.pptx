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3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25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dashboard concept image: Image (30) (1) (1).png
- https://challengeon.atrc.ae/en/challenges/atp2026/pages/edge-challenge-statement?lang=en
[/Sources]
Dashboard values are illustrative and not experimental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https://challengeon.atrc.ae/en/challenges/atp2026/pages/edge-challenge-statement?lang=en
- User-provided proposal requirements screenshot: 952415a6-26c6-4f82-917a-81200157d637.png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CV: Awaiz CV(8).pdf
- https://challengeon.atrc.ae/en/challenges/atp2026
- https://challengeon.atrc.ae/en/challenges/atp2026/agreements?lang=en
[/Sources]
Team-member names are placeholders until the final roster is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https://challengeon.atrc.ae/en/challenges/atp2026/pages/edge-challenge-statement?lang=en
[/Sources]
The use case is a team-selected scenario, as permitted by the open challenge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https://www.rfc-editor.org/rfc/rfc8684.html
- https://docs.kernel.org/networking/mptcp.html
- https://portal.3gpp.org/desktopmodules/Specifications/SpecificationDetails.aspx?specificationId=3607
- https://www.etsi.org/deliver/etsi_ts/124100_124199/124193/19.05.00_60/ts_124193v190500p.pdf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https://docs.kernel.org/networking/mptcp.html
- https://www.rfc-editor.org/rfc/rfc8684.html
- https://www.etsi.org/deliver/etsi_ts/124100_124199/124193/19.05.00_60/ts_124193v190500p.pdf
[/Sources]
The score and policy logic are the proposed team adaptation, not an external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https://docs.kernel.org/networking/mptcp.html
- https://www.rfc-editor.org/rfc/rfc8684.html
[/Sources]
The UDP session relay, control-loop composition and gateway functions are proposed system-design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dashboard concept image: Image (30) (1) (1).png
- https://challengeon.atrc.ae/en/challenges/atp2026/pages/edge-challenge-statement?lang=en
[/Sources]
The interface is a visual mock-up. The final submission should connect it to logged emulator events before claiming measured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https://docs.kernel.org/networking/mptcp.html
- https://mininet-wifi.github.io/
- https://mininet-wifi.github.io/mobility/
- https://www.man7.org/linux/man-pages/man8/tc-netem.8.html
- https://challengeon.atrc.ae/en/challenges/atp2026/pages/edge-challenge-statement?lang=en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https://challengeon.atrc.ae/en/challenges/atp2026/pages/edge-challenge-statement?lang=en
- User-provided proposal instruction screenshot: 952415a6-26c6-4f82-917a-81200157d637.png
[/Sources]
All performance statements on this slide are targets to be validated through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NBAN_LIGHT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9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42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0.svg"/><Relationship Id="rId5" Type="http://schemas.openxmlformats.org/officeDocument/2006/relationships/image" Target="../media/image35.svg"/><Relationship Id="rId15" Type="http://schemas.openxmlformats.org/officeDocument/2006/relationships/image" Target="../media/image43.svg"/><Relationship Id="rId10" Type="http://schemas.openxmlformats.org/officeDocument/2006/relationships/image" Target="../media/image39.svg"/><Relationship Id="rId4" Type="http://schemas.openxmlformats.org/officeDocument/2006/relationships/image" Target="../media/image34.svg"/><Relationship Id="rId9" Type="http://schemas.openxmlformats.org/officeDocument/2006/relationships/image" Target="../media/image38.svg"/><Relationship Id="rId1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8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10" Type="http://schemas.openxmlformats.org/officeDocument/2006/relationships/image" Target="../media/image53.svg"/><Relationship Id="rId4" Type="http://schemas.openxmlformats.org/officeDocument/2006/relationships/image" Target="../media/image49.svg"/><Relationship Id="rId9" Type="http://schemas.openxmlformats.org/officeDocument/2006/relationships/image" Target="../media/image5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36.svg"/><Relationship Id="rId4" Type="http://schemas.openxmlformats.org/officeDocument/2006/relationships/image" Target="../media/image5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84048"/>
            <a:ext cx="45720" cy="105156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0624" y="1069848"/>
            <a:ext cx="45720" cy="365760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40080" y="3566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800" b="1" kern="0" spc="16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</a:t>
            </a:r>
            <a:r>
              <a:rPr lang="en-US" sz="3800" b="1" kern="0" spc="16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50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Network Continuity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658368" y="1316736"/>
            <a:ext cx="5303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changes. The session does not.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211312" y="365760"/>
            <a:ext cx="1152144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8302752" y="59436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3336" y="694944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778240" y="5029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kern="0" spc="3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620" dirty="0"/>
          </a:p>
        </p:txBody>
      </p:sp>
      <p:sp>
        <p:nvSpPr>
          <p:cNvPr id="15" name="Text 12"/>
          <p:cNvSpPr/>
          <p:nvPr/>
        </p:nvSpPr>
        <p:spPr>
          <a:xfrm>
            <a:off x="8778240" y="6492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78240" y="97840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to satellite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454896" y="365760"/>
            <a:ext cx="1152144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5"/>
          <p:cNvSpPr/>
          <p:nvPr/>
        </p:nvSpPr>
        <p:spPr>
          <a:xfrm>
            <a:off x="9546336" y="59436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6920" y="694944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21824" y="5029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kern="0" spc="3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10021824" y="649224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0021824" y="97840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classes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350687" y="2067946"/>
            <a:ext cx="1078992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Shape 20"/>
          <p:cNvSpPr/>
          <p:nvPr/>
        </p:nvSpPr>
        <p:spPr>
          <a:xfrm>
            <a:off x="10789920" y="59436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0504" y="694944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265408" y="50292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b="1" kern="0" spc="3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11265408" y="64922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1265408" y="97840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session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30352" y="1792224"/>
            <a:ext cx="11155680" cy="427939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0160">
            <a:solidFill>
              <a:srgbClr val="D5DFEE"/>
            </a:solidFill>
            <a:prstDash val="solid"/>
          </a:ln>
          <a:effectLst>
            <a:outerShdw blurRad="25400" dist="12700" dir="2700000" algn="bl" rotWithShape="0">
              <a:srgbClr val="AAB8CC">
                <a:alpha val="16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1" name="Text 25"/>
          <p:cNvSpPr/>
          <p:nvPr/>
        </p:nvSpPr>
        <p:spPr>
          <a:xfrm>
            <a:off x="640080" y="6291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kern="0" spc="11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DECK</a:t>
            </a:r>
            <a:endParaRPr lang="en-US" sz="780" dirty="0"/>
          </a:p>
        </p:txBody>
      </p:sp>
      <p:sp>
        <p:nvSpPr>
          <p:cNvPr id="32" name="Text 26"/>
          <p:cNvSpPr/>
          <p:nvPr/>
        </p:nvSpPr>
        <p:spPr>
          <a:xfrm>
            <a:off x="9418320" y="619963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Team Kanban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8046720" y="650138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Technology Pioneers 2026</a:t>
            </a:r>
            <a:endParaRPr lang="en-US" sz="78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6E9FB6A-EBD7-2B51-4BE5-289D4D3FD8B3}"/>
              </a:ext>
            </a:extLst>
          </p:cNvPr>
          <p:cNvSpPr/>
          <p:nvPr/>
        </p:nvSpPr>
        <p:spPr>
          <a:xfrm>
            <a:off x="2797629" y="351173"/>
            <a:ext cx="293914" cy="54864"/>
          </a:xfrm>
          <a:prstGeom prst="roundRect">
            <a:avLst/>
          </a:prstGeom>
          <a:solidFill>
            <a:srgbClr val="7B3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5" name="Picture 34" descr="Videos, Photos &amp; Full Multimedia Library | EDGE Group">
            <a:extLst>
              <a:ext uri="{FF2B5EF4-FFF2-40B4-BE49-F238E27FC236}">
                <a16:creationId xmlns:a16="http://schemas.microsoft.com/office/drawing/2014/main" id="{13ED76F3-8EC0-7CD8-DF9C-EE9E0707EF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52163" y="109850"/>
            <a:ext cx="2844365" cy="15999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F72F2D-E1E6-C2EF-E704-0D677F6AE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859" y="607318"/>
            <a:ext cx="1781159" cy="700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93828-788D-3F1B-C413-95962AA00E5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892"/>
          <a:stretch>
            <a:fillRect/>
          </a:stretch>
        </p:blipFill>
        <p:spPr>
          <a:xfrm>
            <a:off x="1442306" y="1939405"/>
            <a:ext cx="9548782" cy="3985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session. Four networks. Zero operator disruption.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keeps critical applications usable as a mobile user transitions across heterogeneous access networks.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10972800" cy="70408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95528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540" y="1805940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1682496"/>
            <a:ext cx="9857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might we keep a user's experience unbroken as they move between Wi-Fi, mobile, satellite and wired networks?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627246" y="2459736"/>
            <a:ext cx="7059168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Shape 28"/>
          <p:cNvSpPr/>
          <p:nvPr/>
        </p:nvSpPr>
        <p:spPr>
          <a:xfrm>
            <a:off x="7882128" y="2459736"/>
            <a:ext cx="3712464" cy="2194560"/>
          </a:xfrm>
          <a:prstGeom prst="roundRect">
            <a:avLst>
              <a:gd name="adj" fmla="val 5833"/>
            </a:avLst>
          </a:prstGeom>
          <a:solidFill>
            <a:srgbClr val="FBFC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2" name="Text 29"/>
          <p:cNvSpPr/>
          <p:nvPr/>
        </p:nvSpPr>
        <p:spPr>
          <a:xfrm>
            <a:off x="8156448" y="2679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in one sentence</a:t>
            </a:r>
            <a:endParaRPr lang="en-US" sz="1100" dirty="0"/>
          </a:p>
        </p:txBody>
      </p:sp>
      <p:sp>
        <p:nvSpPr>
          <p:cNvPr id="43" name="Text 30"/>
          <p:cNvSpPr/>
          <p:nvPr/>
        </p:nvSpPr>
        <p:spPr>
          <a:xfrm>
            <a:off x="8156448" y="301752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application-aware continuity layer that predicts link degradation, prepares the next path before failure, and protects critical traffic during the handoff.</a:t>
            </a:r>
            <a:endParaRPr lang="en-US" sz="1600" dirty="0"/>
          </a:p>
        </p:txBody>
      </p:sp>
      <p:sp>
        <p:nvSpPr>
          <p:cNvPr id="44" name="Shape 31"/>
          <p:cNvSpPr/>
          <p:nvPr/>
        </p:nvSpPr>
        <p:spPr>
          <a:xfrm>
            <a:off x="8156448" y="4123944"/>
            <a:ext cx="841248" cy="283464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32"/>
          <p:cNvSpPr/>
          <p:nvPr/>
        </p:nvSpPr>
        <p:spPr>
          <a:xfrm>
            <a:off x="8229600" y="4133088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</a:t>
            </a:r>
            <a:endParaRPr lang="en-US" sz="800" dirty="0"/>
          </a:p>
        </p:txBody>
      </p:sp>
      <p:sp>
        <p:nvSpPr>
          <p:cNvPr id="46" name="Shape 33"/>
          <p:cNvSpPr/>
          <p:nvPr/>
        </p:nvSpPr>
        <p:spPr>
          <a:xfrm>
            <a:off x="9070848" y="4123944"/>
            <a:ext cx="1042416" cy="283464"/>
          </a:xfrm>
          <a:prstGeom prst="roundRect">
            <a:avLst/>
          </a:prstGeom>
          <a:solidFill>
            <a:srgbClr val="EDF8FF"/>
          </a:solidFill>
          <a:ln w="6350">
            <a:solidFill>
              <a:srgbClr val="EDF8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34"/>
          <p:cNvSpPr/>
          <p:nvPr/>
        </p:nvSpPr>
        <p:spPr>
          <a:xfrm>
            <a:off x="9144000" y="4133088"/>
            <a:ext cx="896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</a:t>
            </a:r>
            <a:endParaRPr lang="en-US" sz="800" dirty="0"/>
          </a:p>
        </p:txBody>
      </p:sp>
      <p:sp>
        <p:nvSpPr>
          <p:cNvPr id="48" name="Shape 35"/>
          <p:cNvSpPr/>
          <p:nvPr/>
        </p:nvSpPr>
        <p:spPr>
          <a:xfrm>
            <a:off x="10186416" y="4123944"/>
            <a:ext cx="1042416" cy="283464"/>
          </a:xfrm>
          <a:prstGeom prst="roundRect">
            <a:avLst/>
          </a:prstGeom>
          <a:solidFill>
            <a:srgbClr val="F4EEFF"/>
          </a:solidFill>
          <a:ln w="635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36"/>
          <p:cNvSpPr/>
          <p:nvPr/>
        </p:nvSpPr>
        <p:spPr>
          <a:xfrm>
            <a:off x="10259568" y="4133088"/>
            <a:ext cx="896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</a:t>
            </a:r>
            <a:endParaRPr lang="en-US" sz="800" dirty="0"/>
          </a:p>
        </p:txBody>
      </p:sp>
      <p:sp>
        <p:nvSpPr>
          <p:cNvPr id="50" name="Shape 37"/>
          <p:cNvSpPr/>
          <p:nvPr/>
        </p:nvSpPr>
        <p:spPr>
          <a:xfrm>
            <a:off x="621792" y="4892040"/>
            <a:ext cx="2578608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1" name="Shape 38"/>
          <p:cNvSpPr/>
          <p:nvPr/>
        </p:nvSpPr>
        <p:spPr>
          <a:xfrm>
            <a:off x="786384" y="511149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112" y="5221224"/>
            <a:ext cx="219456" cy="21945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1335024" y="506577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54" name="Text 40"/>
          <p:cNvSpPr/>
          <p:nvPr/>
        </p:nvSpPr>
        <p:spPr>
          <a:xfrm>
            <a:off x="1335024" y="53309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+ gateway + dashboard</a:t>
            </a:r>
            <a:endParaRPr lang="en-US" sz="840" dirty="0"/>
          </a:p>
        </p:txBody>
      </p:sp>
      <p:sp>
        <p:nvSpPr>
          <p:cNvPr id="55" name="Shape 41"/>
          <p:cNvSpPr/>
          <p:nvPr/>
        </p:nvSpPr>
        <p:spPr>
          <a:xfrm>
            <a:off x="3419856" y="4892040"/>
            <a:ext cx="2578608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6" name="Shape 42"/>
          <p:cNvSpPr/>
          <p:nvPr/>
        </p:nvSpPr>
        <p:spPr>
          <a:xfrm>
            <a:off x="3584448" y="511149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4176" y="5221224"/>
            <a:ext cx="219456" cy="219456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4133088" y="506577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1150" dirty="0"/>
          </a:p>
        </p:txBody>
      </p:sp>
      <p:sp>
        <p:nvSpPr>
          <p:cNvPr id="59" name="Text 44"/>
          <p:cNvSpPr/>
          <p:nvPr/>
        </p:nvSpPr>
        <p:spPr>
          <a:xfrm>
            <a:off x="4133088" y="53309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multi-access scenarios</a:t>
            </a:r>
            <a:endParaRPr lang="en-US" sz="840" dirty="0"/>
          </a:p>
        </p:txBody>
      </p:sp>
      <p:sp>
        <p:nvSpPr>
          <p:cNvPr id="60" name="Shape 45"/>
          <p:cNvSpPr/>
          <p:nvPr/>
        </p:nvSpPr>
        <p:spPr>
          <a:xfrm>
            <a:off x="6217920" y="4892040"/>
            <a:ext cx="2578608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1" name="Shape 46"/>
          <p:cNvSpPr/>
          <p:nvPr/>
        </p:nvSpPr>
        <p:spPr>
          <a:xfrm>
            <a:off x="6382512" y="511149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E5D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0" y="5221224"/>
            <a:ext cx="219456" cy="219456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6931152" y="506577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</a:t>
            </a:r>
            <a:endParaRPr lang="en-US" sz="1150" dirty="0"/>
          </a:p>
        </p:txBody>
      </p:sp>
      <p:sp>
        <p:nvSpPr>
          <p:cNvPr id="64" name="Text 48"/>
          <p:cNvSpPr/>
          <p:nvPr/>
        </p:nvSpPr>
        <p:spPr>
          <a:xfrm>
            <a:off x="6931152" y="53309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short-horizon QoE risk</a:t>
            </a:r>
            <a:endParaRPr lang="en-US" sz="840" dirty="0"/>
          </a:p>
        </p:txBody>
      </p:sp>
      <p:sp>
        <p:nvSpPr>
          <p:cNvPr id="65" name="Shape 49"/>
          <p:cNvSpPr/>
          <p:nvPr/>
        </p:nvSpPr>
        <p:spPr>
          <a:xfrm>
            <a:off x="9015984" y="4892040"/>
            <a:ext cx="2578608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6" name="Shape 50"/>
          <p:cNvSpPr/>
          <p:nvPr/>
        </p:nvSpPr>
        <p:spPr>
          <a:xfrm>
            <a:off x="9180576" y="511149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0304" y="5221224"/>
            <a:ext cx="219456" cy="21945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9729216" y="5065776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results</a:t>
            </a:r>
            <a:endParaRPr lang="en-US" sz="1150" dirty="0"/>
          </a:p>
        </p:txBody>
      </p:sp>
      <p:sp>
        <p:nvSpPr>
          <p:cNvPr id="69" name="Text 52"/>
          <p:cNvSpPr/>
          <p:nvPr/>
        </p:nvSpPr>
        <p:spPr>
          <a:xfrm>
            <a:off x="9729216" y="533095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baselines + application metrics</a:t>
            </a:r>
            <a:endParaRPr lang="en-US" sz="840" dirty="0"/>
          </a:p>
        </p:txBody>
      </p:sp>
      <p:sp>
        <p:nvSpPr>
          <p:cNvPr id="71" name="Shape 54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Text 55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73" name="Text 56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6522324-3A92-EDD2-900B-3CC8CB1DE82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5364"/>
          <a:stretch>
            <a:fillRect/>
          </a:stretch>
        </p:blipFill>
        <p:spPr>
          <a:xfrm>
            <a:off x="640080" y="2398108"/>
            <a:ext cx="7022592" cy="2301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Kanban combines product, AI, networking and experimental rigor.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21792" y="1627632"/>
            <a:ext cx="4617720" cy="4498848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11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96112" y="1901952"/>
            <a:ext cx="1042416" cy="1042416"/>
          </a:xfrm>
          <a:prstGeom prst="ellipse">
            <a:avLst/>
          </a:prstGeom>
          <a:solidFill>
            <a:srgbClr val="EEF5FF"/>
          </a:solidFill>
          <a:ln w="16510">
            <a:solidFill>
              <a:srgbClr val="B8D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896112" y="215798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148840" y="188366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Awaiz Ahmed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22494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&amp; Product Lead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48840" y="25420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BSc Software Engineering + Software Development student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32369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11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" y="3621024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093696" y="349354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&amp; QoE prediction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986784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1093696" y="385930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&amp; Linux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352544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1093696" y="422506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 &amp; robotics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718304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1093696" y="459082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&amp; Next.js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5084064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1093696" y="495658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&amp; cloud-native delivery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449824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1093696" y="5322345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engineering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" y="5696712"/>
            <a:ext cx="4069080" cy="256032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1016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1042416" y="574243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architecture, model, integration, dashboard and pitch.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96128" y="3291840"/>
            <a:ext cx="4343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550408" y="3191255"/>
            <a:ext cx="6016752" cy="1444753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5769864" y="34061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8736" y="3525012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46520" y="33787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&amp; 5G Lead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446520" y="36621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MPTCP, QoS, Linux routing, wireless systems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10208924" y="4291466"/>
            <a:ext cx="974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Mohammad</a:t>
            </a:r>
            <a:r>
              <a:rPr lang="en-US" sz="7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Umar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577840" y="1612047"/>
            <a:ext cx="6016752" cy="137160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7" name="Shape 34"/>
          <p:cNvSpPr/>
          <p:nvPr/>
        </p:nvSpPr>
        <p:spPr>
          <a:xfrm>
            <a:off x="5797296" y="1804071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3529" y="1936659"/>
            <a:ext cx="237744" cy="23774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473952" y="1776639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&amp; Experiment Lead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6473952" y="206010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Mininet-WiFi, tc netem, automation, statistics</a:t>
            </a:r>
            <a:endParaRPr lang="en-US" sz="940" dirty="0"/>
          </a:p>
        </p:txBody>
      </p:sp>
      <p:sp>
        <p:nvSpPr>
          <p:cNvPr id="42" name="Text 38"/>
          <p:cNvSpPr/>
          <p:nvPr/>
        </p:nvSpPr>
        <p:spPr>
          <a:xfrm>
            <a:off x="10305807" y="2725057"/>
            <a:ext cx="857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0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Mahra </a:t>
            </a:r>
            <a:r>
              <a:rPr lang="en-US" sz="900" b="1" dirty="0" err="1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Alshamsi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5577840" y="4757225"/>
            <a:ext cx="6016752" cy="1389888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4" name="Shape 40"/>
          <p:cNvSpPr/>
          <p:nvPr/>
        </p:nvSpPr>
        <p:spPr>
          <a:xfrm>
            <a:off x="5858256" y="497222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7128" y="5091098"/>
            <a:ext cx="237744" cy="23774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534912" y="494479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Experience Lead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6534912" y="522825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literature, usability, documentation, demo narrative</a:t>
            </a:r>
            <a:endParaRPr lang="en-US" sz="940" dirty="0"/>
          </a:p>
        </p:txBody>
      </p:sp>
      <p:sp>
        <p:nvSpPr>
          <p:cNvPr id="49" name="Text 44"/>
          <p:cNvSpPr/>
          <p:nvPr/>
        </p:nvSpPr>
        <p:spPr>
          <a:xfrm>
            <a:off x="10232136" y="5877365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Obaid</a:t>
            </a:r>
            <a:r>
              <a:rPr lang="en-US" sz="75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b="1" dirty="0" err="1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Mukkadam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49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56" name="Text 50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33E681F-78A0-9978-7522-69F96A77A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74" t="4366" r="3794" b="15713"/>
          <a:stretch>
            <a:fillRect/>
          </a:stretch>
        </p:blipFill>
        <p:spPr>
          <a:xfrm>
            <a:off x="914400" y="1928846"/>
            <a:ext cx="990703" cy="1005841"/>
          </a:xfrm>
          <a:prstGeom prst="ellipse">
            <a:avLst/>
          </a:prstGeom>
        </p:spPr>
      </p:pic>
      <p:sp>
        <p:nvSpPr>
          <p:cNvPr id="50" name="Shape 6">
            <a:extLst>
              <a:ext uri="{FF2B5EF4-FFF2-40B4-BE49-F238E27FC236}">
                <a16:creationId xmlns:a16="http://schemas.microsoft.com/office/drawing/2014/main" id="{46EDF316-FC26-30B1-9AC3-870828ACAE86}"/>
              </a:ext>
            </a:extLst>
          </p:cNvPr>
          <p:cNvSpPr/>
          <p:nvPr/>
        </p:nvSpPr>
        <p:spPr>
          <a:xfrm>
            <a:off x="10158984" y="3272380"/>
            <a:ext cx="1042416" cy="1042416"/>
          </a:xfrm>
          <a:prstGeom prst="ellipse">
            <a:avLst/>
          </a:prstGeom>
          <a:solidFill>
            <a:srgbClr val="EEF5FF"/>
          </a:solidFill>
          <a:ln w="16510">
            <a:solidFill>
              <a:srgbClr val="B8D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01BF0237-D68F-5477-91E1-55584C5E19E4}"/>
              </a:ext>
            </a:extLst>
          </p:cNvPr>
          <p:cNvSpPr/>
          <p:nvPr/>
        </p:nvSpPr>
        <p:spPr>
          <a:xfrm>
            <a:off x="10213429" y="1676172"/>
            <a:ext cx="1042416" cy="1042416"/>
          </a:xfrm>
          <a:prstGeom prst="ellipse">
            <a:avLst/>
          </a:prstGeom>
          <a:solidFill>
            <a:srgbClr val="EEF5FF"/>
          </a:solidFill>
          <a:ln w="16510">
            <a:solidFill>
              <a:srgbClr val="B8D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B05CF831-DA49-BCC9-3827-8CADA33FA3AA}"/>
              </a:ext>
            </a:extLst>
          </p:cNvPr>
          <p:cNvSpPr/>
          <p:nvPr/>
        </p:nvSpPr>
        <p:spPr>
          <a:xfrm>
            <a:off x="10174743" y="4842100"/>
            <a:ext cx="1042416" cy="1042416"/>
          </a:xfrm>
          <a:prstGeom prst="ellipse">
            <a:avLst/>
          </a:prstGeom>
          <a:solidFill>
            <a:srgbClr val="EEF5FF"/>
          </a:solidFill>
          <a:ln w="16510">
            <a:solidFill>
              <a:srgbClr val="B8D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02C4E0B-E07E-88C2-A7BA-1C122D0B2D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828" t="9207" r="8188" b="35220"/>
          <a:stretch>
            <a:fillRect/>
          </a:stretch>
        </p:blipFill>
        <p:spPr>
          <a:xfrm>
            <a:off x="10185875" y="4850247"/>
            <a:ext cx="1020152" cy="1018971"/>
          </a:xfrm>
          <a:prstGeom prst="ellipse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550A147-56E3-8DB3-5139-8E7C7EC0DC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5875" y="3310703"/>
            <a:ext cx="977592" cy="977592"/>
          </a:xfrm>
          <a:prstGeom prst="ellipse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580B927-5F24-20F9-3EE4-5D805A7B58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8177" y="1713614"/>
            <a:ext cx="992920" cy="984942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&amp; USE CASE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handoff is brief. The mission impact is not.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case: a mobile response or inspection platform moves from a command facility into remote terrain.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48640" y="1655064"/>
            <a:ext cx="749808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9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6" name="Shape 24"/>
          <p:cNvSpPr/>
          <p:nvPr/>
        </p:nvSpPr>
        <p:spPr>
          <a:xfrm>
            <a:off x="2112264" y="4297680"/>
            <a:ext cx="4498848" cy="274320"/>
          </a:xfrm>
          <a:prstGeom prst="roundRect">
            <a:avLst/>
          </a:prstGeom>
          <a:solidFill>
            <a:srgbClr val="ECFBF5"/>
          </a:solidFill>
          <a:ln w="6350">
            <a:solidFill>
              <a:srgbClr val="ECF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25"/>
          <p:cNvSpPr/>
          <p:nvPr/>
        </p:nvSpPr>
        <p:spPr>
          <a:xfrm>
            <a:off x="2185416" y="430682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B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should never need to reconnect or regain control</a:t>
            </a:r>
            <a:endParaRPr lang="en-US" sz="870" dirty="0"/>
          </a:p>
        </p:txBody>
      </p:sp>
      <p:sp>
        <p:nvSpPr>
          <p:cNvPr id="38" name="Shape 26"/>
          <p:cNvSpPr/>
          <p:nvPr/>
        </p:nvSpPr>
        <p:spPr>
          <a:xfrm>
            <a:off x="8321040" y="1627632"/>
            <a:ext cx="3273552" cy="3063240"/>
          </a:xfrm>
          <a:prstGeom prst="roundRect">
            <a:avLst>
              <a:gd name="adj" fmla="val 4179"/>
            </a:avLst>
          </a:prstGeom>
          <a:solidFill>
            <a:srgbClr val="FBFC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9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Text 27"/>
          <p:cNvSpPr/>
          <p:nvPr/>
        </p:nvSpPr>
        <p:spPr>
          <a:xfrm>
            <a:off x="8595360" y="1828800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traffic is not equal</a:t>
            </a:r>
            <a:endParaRPr lang="en-US" sz="13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3648" y="2295144"/>
            <a:ext cx="219456" cy="219456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979408" y="2267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&amp; safety</a:t>
            </a:r>
            <a:endParaRPr lang="en-US" sz="950" dirty="0"/>
          </a:p>
        </p:txBody>
      </p:sp>
      <p:sp>
        <p:nvSpPr>
          <p:cNvPr id="42" name="Shape 29"/>
          <p:cNvSpPr/>
          <p:nvPr/>
        </p:nvSpPr>
        <p:spPr>
          <a:xfrm>
            <a:off x="10442448" y="2267712"/>
            <a:ext cx="877824" cy="219456"/>
          </a:xfrm>
          <a:prstGeom prst="roundRect">
            <a:avLst/>
          </a:prstGeom>
          <a:solidFill>
            <a:srgbClr val="FFF0F1"/>
          </a:solidFill>
          <a:ln w="6350">
            <a:solidFill>
              <a:srgbClr val="FFF0F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30"/>
          <p:cNvSpPr/>
          <p:nvPr/>
        </p:nvSpPr>
        <p:spPr>
          <a:xfrm>
            <a:off x="10515600" y="2276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54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65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3648" y="2743200"/>
            <a:ext cx="219456" cy="219456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979408" y="27157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</a:t>
            </a:r>
            <a:endParaRPr lang="en-US" sz="950" dirty="0"/>
          </a:p>
        </p:txBody>
      </p:sp>
      <p:sp>
        <p:nvSpPr>
          <p:cNvPr id="46" name="Shape 32"/>
          <p:cNvSpPr/>
          <p:nvPr/>
        </p:nvSpPr>
        <p:spPr>
          <a:xfrm>
            <a:off x="10442448" y="2715768"/>
            <a:ext cx="877824" cy="219456"/>
          </a:xfrm>
          <a:prstGeom prst="roundRect">
            <a:avLst/>
          </a:prstGeom>
          <a:solidFill>
            <a:srgbClr val="FFF0F1"/>
          </a:solidFill>
          <a:ln w="6350">
            <a:solidFill>
              <a:srgbClr val="FFF0F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33"/>
          <p:cNvSpPr/>
          <p:nvPr/>
        </p:nvSpPr>
        <p:spPr>
          <a:xfrm>
            <a:off x="10515600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54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65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3648" y="3191256"/>
            <a:ext cx="219456" cy="219456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8979408" y="31638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video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10442448" y="3163824"/>
            <a:ext cx="877824" cy="219456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36"/>
          <p:cNvSpPr/>
          <p:nvPr/>
        </p:nvSpPr>
        <p:spPr>
          <a:xfrm>
            <a:off x="10515600" y="31729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</a:t>
            </a:r>
            <a:endParaRPr lang="en-US" sz="65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13648" y="3639312"/>
            <a:ext cx="219456" cy="21945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979408" y="36118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950" dirty="0"/>
          </a:p>
        </p:txBody>
      </p:sp>
      <p:sp>
        <p:nvSpPr>
          <p:cNvPr id="54" name="Shape 38"/>
          <p:cNvSpPr/>
          <p:nvPr/>
        </p:nvSpPr>
        <p:spPr>
          <a:xfrm>
            <a:off x="10442448" y="3611880"/>
            <a:ext cx="877824" cy="219456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Text 39"/>
          <p:cNvSpPr/>
          <p:nvPr/>
        </p:nvSpPr>
        <p:spPr>
          <a:xfrm>
            <a:off x="10515600" y="3621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</a:t>
            </a:r>
            <a:endParaRPr lang="en-US" sz="65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3648" y="4087368"/>
            <a:ext cx="219456" cy="219456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8979408" y="4059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&amp; files</a:t>
            </a:r>
            <a:endParaRPr lang="en-US" sz="950" dirty="0"/>
          </a:p>
        </p:txBody>
      </p:sp>
      <p:sp>
        <p:nvSpPr>
          <p:cNvPr id="58" name="Shape 41"/>
          <p:cNvSpPr/>
          <p:nvPr/>
        </p:nvSpPr>
        <p:spPr>
          <a:xfrm>
            <a:off x="10442448" y="4059936"/>
            <a:ext cx="877824" cy="219456"/>
          </a:xfrm>
          <a:prstGeom prst="roundRect">
            <a:avLst/>
          </a:prstGeom>
          <a:solidFill>
            <a:srgbClr val="F4EEFF"/>
          </a:solidFill>
          <a:ln w="635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9" name="Text 42"/>
          <p:cNvSpPr/>
          <p:nvPr/>
        </p:nvSpPr>
        <p:spPr>
          <a:xfrm>
            <a:off x="10515600" y="4069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OPPORTUNISTIC</a:t>
            </a:r>
            <a:endParaRPr lang="en-US" sz="650" dirty="0"/>
          </a:p>
        </p:txBody>
      </p:sp>
      <p:sp>
        <p:nvSpPr>
          <p:cNvPr id="60" name="Shape 43"/>
          <p:cNvSpPr/>
          <p:nvPr/>
        </p:nvSpPr>
        <p:spPr>
          <a:xfrm>
            <a:off x="621792" y="4919472"/>
            <a:ext cx="2633472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1" name="Shape 44"/>
          <p:cNvSpPr/>
          <p:nvPr/>
        </p:nvSpPr>
        <p:spPr>
          <a:xfrm>
            <a:off x="786384" y="5212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1540" y="5317236"/>
            <a:ext cx="210312" cy="210312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1353312" y="51114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reset</a:t>
            </a:r>
            <a:endParaRPr lang="en-US" sz="1150" dirty="0"/>
          </a:p>
        </p:txBody>
      </p:sp>
      <p:sp>
        <p:nvSpPr>
          <p:cNvPr id="64" name="Text 46"/>
          <p:cNvSpPr/>
          <p:nvPr/>
        </p:nvSpPr>
        <p:spPr>
          <a:xfrm>
            <a:off x="1353312" y="5385816"/>
            <a:ext cx="1664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re-authenticates or restarts the application</a:t>
            </a:r>
            <a:endParaRPr lang="en-US" sz="1050" dirty="0"/>
          </a:p>
        </p:txBody>
      </p:sp>
      <p:sp>
        <p:nvSpPr>
          <p:cNvPr id="65" name="Shape 47"/>
          <p:cNvSpPr/>
          <p:nvPr/>
        </p:nvSpPr>
        <p:spPr>
          <a:xfrm>
            <a:off x="3401568" y="4919472"/>
            <a:ext cx="2633472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6" name="Shape 48"/>
          <p:cNvSpPr/>
          <p:nvPr/>
        </p:nvSpPr>
        <p:spPr>
          <a:xfrm>
            <a:off x="3566160" y="5212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1316" y="5317236"/>
            <a:ext cx="210312" cy="210312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4133088" y="51114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delay</a:t>
            </a:r>
            <a:endParaRPr lang="en-US" sz="1150" dirty="0"/>
          </a:p>
        </p:txBody>
      </p:sp>
      <p:sp>
        <p:nvSpPr>
          <p:cNvPr id="69" name="Text 50"/>
          <p:cNvSpPr/>
          <p:nvPr/>
        </p:nvSpPr>
        <p:spPr>
          <a:xfrm>
            <a:off x="4133088" y="5385816"/>
            <a:ext cx="1664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messages miss operational deadlines</a:t>
            </a:r>
            <a:endParaRPr lang="en-US" sz="1050" dirty="0"/>
          </a:p>
        </p:txBody>
      </p:sp>
      <p:sp>
        <p:nvSpPr>
          <p:cNvPr id="70" name="Shape 51"/>
          <p:cNvSpPr/>
          <p:nvPr/>
        </p:nvSpPr>
        <p:spPr>
          <a:xfrm>
            <a:off x="6181344" y="4919472"/>
            <a:ext cx="2633472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1" name="Shape 52"/>
          <p:cNvSpPr/>
          <p:nvPr/>
        </p:nvSpPr>
        <p:spPr>
          <a:xfrm>
            <a:off x="6345936" y="5212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1092" y="5317236"/>
            <a:ext cx="210312" cy="210312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6912864" y="51114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freeze</a:t>
            </a:r>
            <a:endParaRPr lang="en-US" sz="1150" dirty="0"/>
          </a:p>
        </p:txBody>
      </p:sp>
      <p:sp>
        <p:nvSpPr>
          <p:cNvPr id="74" name="Text 54"/>
          <p:cNvSpPr/>
          <p:nvPr/>
        </p:nvSpPr>
        <p:spPr>
          <a:xfrm>
            <a:off x="6912864" y="5385816"/>
            <a:ext cx="1664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situational awareness drops during a transition</a:t>
            </a:r>
            <a:endParaRPr lang="en-US" sz="1050" dirty="0"/>
          </a:p>
        </p:txBody>
      </p:sp>
      <p:sp>
        <p:nvSpPr>
          <p:cNvPr id="75" name="Shape 55"/>
          <p:cNvSpPr/>
          <p:nvPr/>
        </p:nvSpPr>
        <p:spPr>
          <a:xfrm>
            <a:off x="8961120" y="4919472"/>
            <a:ext cx="2633472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6" name="Shape 56"/>
          <p:cNvSpPr/>
          <p:nvPr/>
        </p:nvSpPr>
        <p:spPr>
          <a:xfrm>
            <a:off x="9125712" y="5212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30868" y="5317236"/>
            <a:ext cx="210312" cy="210312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9692640" y="511149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gaps</a:t>
            </a:r>
            <a:endParaRPr lang="en-US" sz="1150" dirty="0"/>
          </a:p>
        </p:txBody>
      </p:sp>
      <p:sp>
        <p:nvSpPr>
          <p:cNvPr id="79" name="Text 58"/>
          <p:cNvSpPr/>
          <p:nvPr/>
        </p:nvSpPr>
        <p:spPr>
          <a:xfrm>
            <a:off x="9692640" y="5385816"/>
            <a:ext cx="1664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latest state becomes stale or incomplete</a:t>
            </a:r>
            <a:endParaRPr lang="en-US" sz="1050" dirty="0"/>
          </a:p>
        </p:txBody>
      </p:sp>
      <p:sp>
        <p:nvSpPr>
          <p:cNvPr id="80" name="Shape 59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Text 60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82" name="Text 61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2615D6D-97C4-8AE2-512C-52A6465EE4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429" y="1664208"/>
            <a:ext cx="6703046" cy="2596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&amp; GAP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 mechanisms exist. Mission-aware continuity is still missing.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adapts standards-based multipath concepts to predictive, application-aware field operations.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1682496"/>
            <a:ext cx="2578608" cy="4352544"/>
          </a:xfrm>
          <a:prstGeom prst="roundRect">
            <a:avLst>
              <a:gd name="adj" fmla="val 4965"/>
            </a:avLst>
          </a:prstGeom>
          <a:solidFill>
            <a:srgbClr val="FBFCFE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04672" y="1901952"/>
            <a:ext cx="1115568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F7D9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877824" y="19110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0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340864" y="183794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F7D9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3452" y="1970532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Single-path routing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22960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9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22960" y="3127248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universally available.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22960" y="4105656"/>
            <a:ext cx="2121408" cy="0"/>
          </a:xfrm>
          <a:prstGeom prst="line">
            <a:avLst/>
          </a:prstGeom>
          <a:noFill/>
          <a:ln w="1016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822960" y="4270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STILL MISSING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22960" y="4562856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or source-address changes can interrupt active sessions; switching usually begins after degradation is visible.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10712" y="1682496"/>
            <a:ext cx="2578608" cy="4352544"/>
          </a:xfrm>
          <a:prstGeom prst="roundRect">
            <a:avLst>
              <a:gd name="adj" fmla="val 4965"/>
            </a:avLst>
          </a:prstGeom>
          <a:solidFill>
            <a:srgbClr val="EEF5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6"/>
          <p:cNvSpPr/>
          <p:nvPr/>
        </p:nvSpPr>
        <p:spPr>
          <a:xfrm>
            <a:off x="3593592" y="1901952"/>
            <a:ext cx="1115568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7"/>
          <p:cNvSpPr/>
          <p:nvPr/>
        </p:nvSpPr>
        <p:spPr>
          <a:xfrm>
            <a:off x="3666744" y="19110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1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5129784" y="183794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2372" y="1970532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11880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Multipath TCP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3611880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9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611880" y="3127248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reliable byte stream can use multiple subflows and fail over between paths.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3611880" y="4105656"/>
            <a:ext cx="2121408" cy="0"/>
          </a:xfrm>
          <a:prstGeom prst="line">
            <a:avLst/>
          </a:prstGeom>
          <a:noFill/>
          <a:ln w="1016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3"/>
          <p:cNvSpPr/>
          <p:nvPr/>
        </p:nvSpPr>
        <p:spPr>
          <a:xfrm>
            <a:off x="3611880" y="4270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STILL MISSING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611880" y="4562856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transport layer alone does not know which application is mission-critical or what future path risk looks like.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199632" y="1682496"/>
            <a:ext cx="2578608" cy="4352544"/>
          </a:xfrm>
          <a:prstGeom prst="roundRect">
            <a:avLst>
              <a:gd name="adj" fmla="val 4965"/>
            </a:avLst>
          </a:prstGeom>
          <a:solidFill>
            <a:srgbClr val="F1F1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6"/>
          <p:cNvSpPr/>
          <p:nvPr/>
        </p:nvSpPr>
        <p:spPr>
          <a:xfrm>
            <a:off x="6382512" y="1901952"/>
            <a:ext cx="1115568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5D5B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7"/>
          <p:cNvSpPr/>
          <p:nvPr/>
        </p:nvSpPr>
        <p:spPr>
          <a:xfrm>
            <a:off x="6455664" y="19110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D5B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7918704" y="183794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5B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292" y="1970532"/>
            <a:ext cx="265176" cy="26517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400800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/ redundancy</a:t>
            </a:r>
            <a:endParaRPr lang="en-US" sz="1650" dirty="0"/>
          </a:p>
        </p:txBody>
      </p:sp>
      <p:sp>
        <p:nvSpPr>
          <p:cNvPr id="35" name="Text 30"/>
          <p:cNvSpPr/>
          <p:nvPr/>
        </p:nvSpPr>
        <p:spPr>
          <a:xfrm>
            <a:off x="6400800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90" dirty="0">
                <a:solidFill>
                  <a:srgbClr val="5D5B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400800" y="3127248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can be steered, switched, split or duplicated across accesses.</a:t>
            </a:r>
            <a:endParaRPr lang="en-US" sz="1120" dirty="0"/>
          </a:p>
        </p:txBody>
      </p:sp>
      <p:sp>
        <p:nvSpPr>
          <p:cNvPr id="37" name="Shape 32"/>
          <p:cNvSpPr/>
          <p:nvPr/>
        </p:nvSpPr>
        <p:spPr>
          <a:xfrm>
            <a:off x="6400800" y="4105656"/>
            <a:ext cx="2121408" cy="0"/>
          </a:xfrm>
          <a:prstGeom prst="line">
            <a:avLst/>
          </a:prstGeom>
          <a:noFill/>
          <a:ln w="1016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3"/>
          <p:cNvSpPr/>
          <p:nvPr/>
        </p:nvSpPr>
        <p:spPr>
          <a:xfrm>
            <a:off x="6400800" y="4270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STILL MISSING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6400800" y="4562856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deployment can be complex, while always-on duplication can waste scarce or costly bandwidth.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988552" y="1682496"/>
            <a:ext cx="2578608" cy="4352544"/>
          </a:xfrm>
          <a:prstGeom prst="roundRect">
            <a:avLst>
              <a:gd name="adj" fmla="val 4965"/>
            </a:avLst>
          </a:prstGeom>
          <a:solidFill>
            <a:srgbClr val="F4EEFF"/>
          </a:solidFill>
          <a:ln w="15240">
            <a:solidFill>
              <a:srgbClr val="C8B4FF"/>
            </a:solidFill>
            <a:prstDash val="solid"/>
          </a:ln>
          <a:effectLst>
            <a:outerShdw blurRad="25400" dist="12700" dir="2700000" algn="bl" rotWithShape="0">
              <a:srgbClr val="AAB8CC">
                <a:alpha val="14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1" name="Shape 36"/>
          <p:cNvSpPr/>
          <p:nvPr/>
        </p:nvSpPr>
        <p:spPr>
          <a:xfrm>
            <a:off x="9171432" y="1901952"/>
            <a:ext cx="1115568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37"/>
          <p:cNvSpPr/>
          <p:nvPr/>
        </p:nvSpPr>
        <p:spPr>
          <a:xfrm>
            <a:off x="9244584" y="19110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ADAPTATION</a:t>
            </a:r>
            <a:endParaRPr lang="en-US" sz="680" dirty="0"/>
          </a:p>
        </p:txBody>
      </p:sp>
      <p:sp>
        <p:nvSpPr>
          <p:cNvPr id="43" name="Shape 38"/>
          <p:cNvSpPr/>
          <p:nvPr/>
        </p:nvSpPr>
        <p:spPr>
          <a:xfrm>
            <a:off x="10707624" y="183794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0212" y="1970532"/>
            <a:ext cx="265176" cy="26517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189720" y="2359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</a:t>
            </a:r>
            <a:endParaRPr lang="en-US" sz="1650" dirty="0"/>
          </a:p>
        </p:txBody>
      </p:sp>
      <p:sp>
        <p:nvSpPr>
          <p:cNvPr id="46" name="Text 40"/>
          <p:cNvSpPr/>
          <p:nvPr/>
        </p:nvSpPr>
        <p:spPr>
          <a:xfrm>
            <a:off x="9189720" y="28529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9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GIVES US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9189720" y="3127248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risk, pre-warms the next path and applies a different policy to each traffic class.</a:t>
            </a:r>
            <a:endParaRPr lang="en-US" sz="1120" dirty="0"/>
          </a:p>
        </p:txBody>
      </p:sp>
      <p:sp>
        <p:nvSpPr>
          <p:cNvPr id="48" name="Shape 42"/>
          <p:cNvSpPr/>
          <p:nvPr/>
        </p:nvSpPr>
        <p:spPr>
          <a:xfrm>
            <a:off x="9189720" y="4105656"/>
            <a:ext cx="2121408" cy="0"/>
          </a:xfrm>
          <a:prstGeom prst="line">
            <a:avLst/>
          </a:prstGeom>
          <a:noFill/>
          <a:ln w="10160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3"/>
          <p:cNvSpPr/>
          <p:nvPr/>
        </p:nvSpPr>
        <p:spPr>
          <a:xfrm>
            <a:off x="9189720" y="42702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FITS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9189720" y="4562856"/>
            <a:ext cx="21396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open standards and testable in software emulation before field deployment.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621792" y="6144768"/>
            <a:ext cx="10972800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 w="1016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Text 46"/>
          <p:cNvSpPr/>
          <p:nvPr/>
        </p:nvSpPr>
        <p:spPr>
          <a:xfrm>
            <a:off x="822960" y="6181344"/>
            <a:ext cx="10561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Standards-aligned foundation: IETF RFC 8684 (MPTCP) | Linux MPTCP | 3GPP TS 24.193 (ATSSS)</a:t>
            </a:r>
            <a:endParaRPr lang="en-US" sz="720" dirty="0"/>
          </a:p>
        </p:txBody>
      </p:sp>
      <p:sp>
        <p:nvSpPr>
          <p:cNvPr id="53" name="Shape 47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Text 48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turns live telemetry into proactive handoff decisions.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closed-loop controller observes every link, predicts near-term QoE risk and takes the least disruptive action.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" y="1658192"/>
            <a:ext cx="7479792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39" name="Shape 31"/>
          <p:cNvSpPr/>
          <p:nvPr/>
        </p:nvSpPr>
        <p:spPr>
          <a:xfrm>
            <a:off x="8321040" y="1627632"/>
            <a:ext cx="3273552" cy="1344168"/>
          </a:xfrm>
          <a:prstGeom prst="roundRect">
            <a:avLst>
              <a:gd name="adj" fmla="val 9524"/>
            </a:avLst>
          </a:prstGeom>
          <a:solidFill>
            <a:srgbClr val="EEF5FF"/>
          </a:solidFill>
          <a:ln w="10160">
            <a:solidFill>
              <a:srgbClr val="CFE1F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Text 32"/>
          <p:cNvSpPr/>
          <p:nvPr/>
        </p:nvSpPr>
        <p:spPr>
          <a:xfrm>
            <a:off x="8558784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8558784" y="21396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RTT  |  jitter  |  packet loss  |  throughput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RSSI  |  interface state  |  motion  |  cost</a:t>
            </a:r>
            <a:endParaRPr lang="en-US" sz="1040" dirty="0"/>
          </a:p>
        </p:txBody>
      </p:sp>
      <p:sp>
        <p:nvSpPr>
          <p:cNvPr id="42" name="Shape 34"/>
          <p:cNvSpPr/>
          <p:nvPr/>
        </p:nvSpPr>
        <p:spPr>
          <a:xfrm>
            <a:off x="8321040" y="3255264"/>
            <a:ext cx="3273552" cy="1344168"/>
          </a:xfrm>
          <a:prstGeom prst="roundRect">
            <a:avLst>
              <a:gd name="adj" fmla="val 9524"/>
            </a:avLst>
          </a:prstGeom>
          <a:solidFill>
            <a:srgbClr val="F4EEFF"/>
          </a:solidFill>
          <a:ln w="10160">
            <a:solidFill>
              <a:srgbClr val="DACDF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3" name="Text 35"/>
          <p:cNvSpPr/>
          <p:nvPr/>
        </p:nvSpPr>
        <p:spPr>
          <a:xfrm>
            <a:off x="8558784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8558784" y="37673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 backup  |  switch primary  |  split traffic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duplicate critical packets  |  adapt video  |  pause logs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21792" y="4846320"/>
            <a:ext cx="1097280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6" name="Shape 38"/>
          <p:cNvSpPr/>
          <p:nvPr/>
        </p:nvSpPr>
        <p:spPr>
          <a:xfrm>
            <a:off x="859536" y="5321808"/>
            <a:ext cx="4096512" cy="310896"/>
          </a:xfrm>
          <a:prstGeom prst="roundRect">
            <a:avLst/>
          </a:prstGeom>
          <a:solidFill>
            <a:srgbClr val="F2F6FF"/>
          </a:solidFill>
          <a:ln w="6350">
            <a:solidFill>
              <a:srgbClr val="F2F6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39"/>
          <p:cNvSpPr/>
          <p:nvPr/>
        </p:nvSpPr>
        <p:spPr>
          <a:xfrm>
            <a:off x="932688" y="533095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SCORE = QoE FIT - PREDICTED RISK - COST - HANDOFF PENALTY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5257800" y="5065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E54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</a:t>
            </a:r>
            <a:endParaRPr lang="en-US" sz="810" dirty="0"/>
          </a:p>
        </p:txBody>
      </p:sp>
      <p:sp>
        <p:nvSpPr>
          <p:cNvPr id="49" name="Text 41"/>
          <p:cNvSpPr/>
          <p:nvPr/>
        </p:nvSpPr>
        <p:spPr>
          <a:xfrm>
            <a:off x="5184648" y="5330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latency + brief duplication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6885432" y="5065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</a:t>
            </a:r>
            <a:endParaRPr lang="en-US" sz="810" dirty="0"/>
          </a:p>
        </p:txBody>
      </p:sp>
      <p:sp>
        <p:nvSpPr>
          <p:cNvPr id="51" name="Text 43"/>
          <p:cNvSpPr/>
          <p:nvPr/>
        </p:nvSpPr>
        <p:spPr>
          <a:xfrm>
            <a:off x="6812280" y="5330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freshest-data policy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8385048" y="5065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810" dirty="0"/>
          </a:p>
        </p:txBody>
      </p:sp>
      <p:sp>
        <p:nvSpPr>
          <p:cNvPr id="53" name="Text 45"/>
          <p:cNvSpPr/>
          <p:nvPr/>
        </p:nvSpPr>
        <p:spPr>
          <a:xfrm>
            <a:off x="8311896" y="5330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switch + adaptive bitrate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10076688" y="5065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</a:t>
            </a:r>
            <a:endParaRPr lang="en-US" sz="810" dirty="0"/>
          </a:p>
        </p:txBody>
      </p:sp>
      <p:sp>
        <p:nvSpPr>
          <p:cNvPr id="55" name="Text 47"/>
          <p:cNvSpPr/>
          <p:nvPr/>
        </p:nvSpPr>
        <p:spPr>
          <a:xfrm>
            <a:off x="10003536" y="5330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cheapest / highest throughput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7" name="Text 49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58" name="Text 50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FF7F7ACD-E4CC-DDCE-0BD1-E6BC3BEE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0508"/>
            <a:ext cx="7461504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deployable continuity layer - not a replacement for existing networks.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prototype runs entirely in software and can later map onto physical routers, gateways or mobile platforms.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F2F6FF"/>
          </a:solidFill>
          <a:ln w="10160">
            <a:solidFill>
              <a:srgbClr val="D6E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900684" y="1979676"/>
            <a:ext cx="1188720" cy="2834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973836" y="198882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8105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6876" y="1915668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57500" y="1929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Monitor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3691999" y="2034540"/>
            <a:ext cx="384048" cy="0"/>
          </a:xfrm>
          <a:prstGeom prst="line">
            <a:avLst/>
          </a:prstGeom>
          <a:noFill/>
          <a:ln w="16510">
            <a:solidFill>
              <a:srgbClr val="A8BDE0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4160520" y="18105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5676" y="1915668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6300" y="1929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QoE Predictor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5520799" y="2034540"/>
            <a:ext cx="384048" cy="0"/>
          </a:xfrm>
          <a:prstGeom prst="line">
            <a:avLst/>
          </a:prstGeom>
          <a:noFill/>
          <a:ln w="16510">
            <a:solidFill>
              <a:srgbClr val="A8BDE0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4"/>
          <p:cNvSpPr/>
          <p:nvPr/>
        </p:nvSpPr>
        <p:spPr>
          <a:xfrm>
            <a:off x="5989320" y="18105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5B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4476" y="191566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5100" y="1929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970" dirty="0"/>
          </a:p>
        </p:txBody>
      </p:sp>
      <p:sp>
        <p:nvSpPr>
          <p:cNvPr id="21" name="Shape 16"/>
          <p:cNvSpPr/>
          <p:nvPr/>
        </p:nvSpPr>
        <p:spPr>
          <a:xfrm>
            <a:off x="7349599" y="2034540"/>
            <a:ext cx="384048" cy="0"/>
          </a:xfrm>
          <a:prstGeom prst="line">
            <a:avLst/>
          </a:prstGeom>
          <a:noFill/>
          <a:ln w="16510">
            <a:solidFill>
              <a:srgbClr val="A8BDE0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2" name="Shape 17"/>
          <p:cNvSpPr/>
          <p:nvPr/>
        </p:nvSpPr>
        <p:spPr>
          <a:xfrm>
            <a:off x="7818120" y="18105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3276" y="1915668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43900" y="192938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Log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9701784" y="1952897"/>
            <a:ext cx="1554480" cy="301752"/>
          </a:xfrm>
          <a:prstGeom prst="roundRect">
            <a:avLst/>
          </a:prstGeom>
          <a:solidFill>
            <a:srgbClr val="ECFBF5"/>
          </a:solidFill>
          <a:ln w="6350">
            <a:solidFill>
              <a:srgbClr val="ECF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0"/>
          <p:cNvSpPr/>
          <p:nvPr/>
        </p:nvSpPr>
        <p:spPr>
          <a:xfrm>
            <a:off x="9774936" y="1962041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AB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specialized hardware required</a:t>
            </a:r>
            <a:endParaRPr lang="en-US" sz="730" dirty="0"/>
          </a:p>
        </p:txBody>
      </p:sp>
      <p:sp>
        <p:nvSpPr>
          <p:cNvPr id="27" name="Shape 21"/>
          <p:cNvSpPr/>
          <p:nvPr/>
        </p:nvSpPr>
        <p:spPr>
          <a:xfrm>
            <a:off x="640080" y="2907792"/>
            <a:ext cx="2011680" cy="2542032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hape 22"/>
          <p:cNvSpPr/>
          <p:nvPr/>
        </p:nvSpPr>
        <p:spPr>
          <a:xfrm>
            <a:off x="1344168" y="32004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044" y="3351276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6384" y="39136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platform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04672" y="4297680"/>
            <a:ext cx="1682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697480" y="4160520"/>
            <a:ext cx="146304" cy="0"/>
          </a:xfrm>
          <a:prstGeom prst="line">
            <a:avLst/>
          </a:prstGeom>
          <a:noFill/>
          <a:ln w="25400">
            <a:solidFill>
              <a:srgbClr val="1769FF">
                <a:alpha val="9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3" name="Shape 26"/>
          <p:cNvSpPr/>
          <p:nvPr/>
        </p:nvSpPr>
        <p:spPr>
          <a:xfrm>
            <a:off x="2889504" y="2907792"/>
            <a:ext cx="2148840" cy="2542032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240">
            <a:solidFill>
              <a:srgbClr val="B9D2FF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Shape 27"/>
          <p:cNvSpPr/>
          <p:nvPr/>
        </p:nvSpPr>
        <p:spPr>
          <a:xfrm>
            <a:off x="3662172" y="32004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3048" y="3351276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035808" y="391363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agent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054096" y="4297680"/>
            <a:ext cx="18196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MPTCP / UDP relay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policy executor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5084064" y="4160520"/>
            <a:ext cx="146304" cy="0"/>
          </a:xfrm>
          <a:prstGeom prst="line">
            <a:avLst/>
          </a:prstGeom>
          <a:noFill/>
          <a:ln w="25400">
            <a:solidFill>
              <a:srgbClr val="1769FF">
                <a:alpha val="9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9" name="Shape 31"/>
          <p:cNvSpPr/>
          <p:nvPr/>
        </p:nvSpPr>
        <p:spPr>
          <a:xfrm>
            <a:off x="5276088" y="2907792"/>
            <a:ext cx="2267712" cy="2542032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2"/>
          <p:cNvSpPr/>
          <p:nvPr/>
        </p:nvSpPr>
        <p:spPr>
          <a:xfrm>
            <a:off x="6108192" y="32004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5B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9068" y="3351276"/>
            <a:ext cx="301752" cy="3017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422392" y="39136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Multi-access paths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5440680" y="4297680"/>
            <a:ext cx="19385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589520" y="4160520"/>
            <a:ext cx="146304" cy="0"/>
          </a:xfrm>
          <a:prstGeom prst="line">
            <a:avLst/>
          </a:prstGeom>
          <a:noFill/>
          <a:ln w="25400">
            <a:solidFill>
              <a:srgbClr val="7B3FF2">
                <a:alpha val="9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5" name="Shape 36"/>
          <p:cNvSpPr/>
          <p:nvPr/>
        </p:nvSpPr>
        <p:spPr>
          <a:xfrm>
            <a:off x="7781544" y="2907792"/>
            <a:ext cx="2011680" cy="2542032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FBEFF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6" name="Shape 37"/>
          <p:cNvSpPr/>
          <p:nvPr/>
        </p:nvSpPr>
        <p:spPr>
          <a:xfrm>
            <a:off x="8485632" y="32004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508" y="3351276"/>
            <a:ext cx="301752" cy="30175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927848" y="39136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 gateway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7946136" y="4297680"/>
            <a:ext cx="1682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endpoint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tunnel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suppression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9838944" y="4160520"/>
            <a:ext cx="146304" cy="0"/>
          </a:xfrm>
          <a:prstGeom prst="line">
            <a:avLst/>
          </a:prstGeom>
          <a:noFill/>
          <a:ln w="25400">
            <a:solidFill>
              <a:srgbClr val="7B3FF2">
                <a:alpha val="90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51" name="Shape 41"/>
          <p:cNvSpPr/>
          <p:nvPr/>
        </p:nvSpPr>
        <p:spPr>
          <a:xfrm>
            <a:off x="10030968" y="2907792"/>
            <a:ext cx="1499616" cy="2542032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2" name="Shape 42"/>
          <p:cNvSpPr/>
          <p:nvPr/>
        </p:nvSpPr>
        <p:spPr>
          <a:xfrm>
            <a:off x="10479024" y="32004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C3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29900" y="3351276"/>
            <a:ext cx="301752" cy="30175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0177272" y="39136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</a:t>
            </a:r>
            <a:endParaRPr lang="en-US" sz="1250" dirty="0"/>
          </a:p>
        </p:txBody>
      </p:sp>
      <p:sp>
        <p:nvSpPr>
          <p:cNvPr id="55" name="Text 44"/>
          <p:cNvSpPr/>
          <p:nvPr/>
        </p:nvSpPr>
        <p:spPr>
          <a:xfrm>
            <a:off x="10195560" y="4297680"/>
            <a:ext cx="1170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1100" dirty="0"/>
          </a:p>
        </p:txBody>
      </p:sp>
      <p:sp>
        <p:nvSpPr>
          <p:cNvPr id="56" name="Shape 45"/>
          <p:cNvSpPr/>
          <p:nvPr/>
        </p:nvSpPr>
        <p:spPr>
          <a:xfrm>
            <a:off x="640080" y="5650992"/>
            <a:ext cx="10881360" cy="438912"/>
          </a:xfrm>
          <a:prstGeom prst="roundRect">
            <a:avLst>
              <a:gd name="adj" fmla="val 29167"/>
            </a:avLst>
          </a:prstGeom>
          <a:solidFill>
            <a:srgbClr val="F6F9FD"/>
          </a:solidFill>
          <a:ln w="1016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5769864"/>
            <a:ext cx="173736" cy="17373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1188720" y="5751576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peers</a:t>
            </a:r>
            <a:endParaRPr lang="en-US" sz="82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46120" y="5769864"/>
            <a:ext cx="173736" cy="173736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3520440" y="5751576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transport</a:t>
            </a:r>
            <a:endParaRPr lang="en-US" sz="82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77840" y="5769864"/>
            <a:ext cx="173736" cy="173736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5852160" y="5751576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Least-privilege agent</a:t>
            </a:r>
            <a:endParaRPr lang="en-US" sz="82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46720" y="5769864"/>
            <a:ext cx="173736" cy="173736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8321040" y="5751576"/>
            <a:ext cx="1600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 decisions</a:t>
            </a:r>
            <a:endParaRPr lang="en-US" sz="820" dirty="0"/>
          </a:p>
        </p:txBody>
      </p:sp>
      <p:sp>
        <p:nvSpPr>
          <p:cNvPr id="65" name="Shape 50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Text 51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67" name="Text 52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prototype: visible, stressable and measured.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visualizes logged handoff events, application health and the reasoning behind every network decision. Live at continua.kanbanstudios.ae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1609344"/>
            <a:ext cx="82296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hape 6"/>
          <p:cNvSpPr/>
          <p:nvPr/>
        </p:nvSpPr>
        <p:spPr>
          <a:xfrm>
            <a:off x="9070848" y="1682496"/>
            <a:ext cx="2523744" cy="804672"/>
          </a:xfrm>
          <a:prstGeom prst="roundRect">
            <a:avLst>
              <a:gd name="adj" fmla="val 15909"/>
            </a:avLst>
          </a:prstGeom>
          <a:solidFill>
            <a:srgbClr val="FBFC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/>
          <p:nvPr/>
        </p:nvSpPr>
        <p:spPr>
          <a:xfrm>
            <a:off x="9272016" y="182880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710928" y="179222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multi-link state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710928" y="204825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Wired, Wi-Fi, 5G and satellite visible together.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9070848" y="2670048"/>
            <a:ext cx="2523744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9272016" y="28163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10928" y="27797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handoff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710928" y="303580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path is prepared before the current link fails.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9070848" y="3657600"/>
            <a:ext cx="2523744" cy="804672"/>
          </a:xfrm>
          <a:prstGeom prst="roundRect">
            <a:avLst>
              <a:gd name="adj" fmla="val 15909"/>
            </a:avLst>
          </a:prstGeom>
          <a:solidFill>
            <a:srgbClr val="FBFC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9272016" y="38039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B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710928" y="37673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Application-aware QoS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10928" y="402336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Latency, loss, throughput and service health stay visible.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9070848" y="4645152"/>
            <a:ext cx="2523744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Text 19"/>
          <p:cNvSpPr/>
          <p:nvPr/>
        </p:nvSpPr>
        <p:spPr>
          <a:xfrm>
            <a:off x="9272016" y="4791456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710928" y="475488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 mission view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710928" y="501091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feed, vehicle state and transition status in one place.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7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EAD8F8C-EB23-FDBD-2F2F-DDB0A858D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67" y="1735645"/>
            <a:ext cx="3566160" cy="20059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50142A-7E54-519B-9485-00F5E5311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782" y="1738502"/>
            <a:ext cx="3561079" cy="20031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9DE0B54-7ACA-1E29-FFEE-781F57A84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67" y="3831613"/>
            <a:ext cx="3566157" cy="200596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A326937-AE80-5453-9BBD-805411C9B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8575" y="3857609"/>
            <a:ext cx="3578286" cy="20127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&amp; EXPERIMENTS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first: repeatable emulation, clear baselines, application-level QoE.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no sponsor dataset is provided, every assumption, network profile and workload is explicitly documented.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1664208"/>
            <a:ext cx="3511296" cy="3044952"/>
          </a:xfrm>
          <a:prstGeom prst="roundRect">
            <a:avLst>
              <a:gd name="adj" fmla="val 4204"/>
            </a:avLst>
          </a:prstGeom>
          <a:solidFill>
            <a:srgbClr val="EEF5FF"/>
          </a:solidFill>
          <a:ln w="10160">
            <a:solidFill>
              <a:srgbClr val="CCE0FF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692" y="202539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9933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ASSUMPTIONS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96112" y="2578608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9"/>
          <p:cNvSpPr/>
          <p:nvPr/>
        </p:nvSpPr>
        <p:spPr>
          <a:xfrm>
            <a:off x="1069848" y="2505456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 operator network or private sponsor data is required.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6112" y="3072384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1"/>
          <p:cNvSpPr/>
          <p:nvPr/>
        </p:nvSpPr>
        <p:spPr>
          <a:xfrm>
            <a:off x="1069848" y="2999232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access types are represented by controlled Linux profiles.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6112" y="3566160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1069848" y="3493008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mobility and workload traces are used for each mechanism.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6112" y="4059936"/>
            <a:ext cx="73152" cy="7315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1069848" y="3986784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values become evidence only after logged experiment runs.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1664208"/>
            <a:ext cx="3511296" cy="3044952"/>
          </a:xfrm>
          <a:prstGeom prst="roundRect">
            <a:avLst>
              <a:gd name="adj" fmla="val 4204"/>
            </a:avLst>
          </a:prstGeom>
          <a:solidFill>
            <a:srgbClr val="F1F1FF"/>
          </a:solidFill>
          <a:ln w="10160">
            <a:solidFill>
              <a:srgbClr val="D4D3FF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4572000" y="190195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5B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5444" y="2025396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19933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5B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STACK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4626864" y="2578608"/>
            <a:ext cx="73152" cy="73152"/>
          </a:xfrm>
          <a:prstGeom prst="ellipse">
            <a:avLst/>
          </a:prstGeom>
          <a:solidFill>
            <a:srgbClr val="5A5BE5"/>
          </a:solidFill>
          <a:ln w="12700">
            <a:solidFill>
              <a:srgbClr val="5A5B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0"/>
          <p:cNvSpPr/>
          <p:nvPr/>
        </p:nvSpPr>
        <p:spPr>
          <a:xfrm>
            <a:off x="4800600" y="2505456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MPTCP and network namespaces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26864" y="3072384"/>
            <a:ext cx="73152" cy="73152"/>
          </a:xfrm>
          <a:prstGeom prst="ellipse">
            <a:avLst/>
          </a:prstGeom>
          <a:solidFill>
            <a:srgbClr val="5A5BE5"/>
          </a:solidFill>
          <a:ln w="12700">
            <a:solidFill>
              <a:srgbClr val="5A5B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2"/>
          <p:cNvSpPr/>
          <p:nvPr/>
        </p:nvSpPr>
        <p:spPr>
          <a:xfrm>
            <a:off x="4800600" y="2999232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Mininet-WiFi for movement and AP handovers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626864" y="3566160"/>
            <a:ext cx="73152" cy="73152"/>
          </a:xfrm>
          <a:prstGeom prst="ellipse">
            <a:avLst/>
          </a:prstGeom>
          <a:solidFill>
            <a:srgbClr val="5A5BE5"/>
          </a:solidFill>
          <a:ln w="12700">
            <a:solidFill>
              <a:srgbClr val="5A5B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4"/>
          <p:cNvSpPr/>
          <p:nvPr/>
        </p:nvSpPr>
        <p:spPr>
          <a:xfrm>
            <a:off x="4800600" y="3493008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 netem for delay, loss, jitter and rate profiles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26864" y="4059936"/>
            <a:ext cx="73152" cy="73152"/>
          </a:xfrm>
          <a:prstGeom prst="ellipse">
            <a:avLst/>
          </a:prstGeom>
          <a:solidFill>
            <a:srgbClr val="5A5BE5"/>
          </a:solidFill>
          <a:ln w="12700">
            <a:solidFill>
              <a:srgbClr val="5A5B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6"/>
          <p:cNvSpPr/>
          <p:nvPr/>
        </p:nvSpPr>
        <p:spPr>
          <a:xfrm>
            <a:off x="4800600" y="3986784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scikit-learn, FastAPI, Next.js and WebSockets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083296" y="1664208"/>
            <a:ext cx="3511296" cy="3044952"/>
          </a:xfrm>
          <a:prstGeom prst="roundRect">
            <a:avLst>
              <a:gd name="adj" fmla="val 4204"/>
            </a:avLst>
          </a:prstGeom>
          <a:solidFill>
            <a:srgbClr val="F4EEFF"/>
          </a:solidFill>
          <a:ln w="10160">
            <a:solidFill>
              <a:srgbClr val="D6C4FF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28"/>
          <p:cNvSpPr/>
          <p:nvPr/>
        </p:nvSpPr>
        <p:spPr>
          <a:xfrm>
            <a:off x="8302752" y="190195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6196" y="2025396"/>
            <a:ext cx="246888" cy="2468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42832" y="19933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EXPERIMENTAL DESIGN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357616" y="2578608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1"/>
          <p:cNvSpPr/>
          <p:nvPr/>
        </p:nvSpPr>
        <p:spPr>
          <a:xfrm>
            <a:off x="8531352" y="2505456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B0: single-path TCP with route switching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357616" y="3072384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3"/>
          <p:cNvSpPr/>
          <p:nvPr/>
        </p:nvSpPr>
        <p:spPr>
          <a:xfrm>
            <a:off x="8531352" y="2999232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B1: reactive / default MPTCP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357616" y="3566160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5"/>
          <p:cNvSpPr/>
          <p:nvPr/>
        </p:nvSpPr>
        <p:spPr>
          <a:xfrm>
            <a:off x="8531352" y="3493008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P1: CONTINUA predictive policy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8357616" y="4059936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2" name="Text 37"/>
          <p:cNvSpPr/>
          <p:nvPr/>
        </p:nvSpPr>
        <p:spPr>
          <a:xfrm>
            <a:off x="8531352" y="3986784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 repeated runs per core scenario, fixed seeds and confidence intervals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21792" y="4928616"/>
            <a:ext cx="1097280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4" name="Text 39"/>
          <p:cNvSpPr/>
          <p:nvPr/>
        </p:nvSpPr>
        <p:spPr>
          <a:xfrm>
            <a:off x="877824" y="513892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SCENARIOS</a:t>
            </a:r>
            <a:endParaRPr lang="en-US" sz="830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3080" y="5084064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2066544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Gradual Wi-Fi fade</a:t>
            </a:r>
            <a:endParaRPr lang="en-US" sz="84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9312" y="5084064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922776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Sudden link outage</a:t>
            </a:r>
            <a:endParaRPr lang="en-US" sz="84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5544" y="5084064"/>
            <a:ext cx="201168" cy="20116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779008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5G congestion</a:t>
            </a:r>
            <a:endParaRPr lang="en-US" sz="84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51776" y="5084064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63524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fallback</a:t>
            </a:r>
            <a:endParaRPr lang="en-US" sz="84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8008" y="5084064"/>
            <a:ext cx="201168" cy="20116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491472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Flapping link</a:t>
            </a:r>
            <a:endParaRPr lang="en-US" sz="840" dirty="0"/>
          </a:p>
        </p:txBody>
      </p:sp>
      <p:sp>
        <p:nvSpPr>
          <p:cNvPr id="55" name="Shape 45"/>
          <p:cNvSpPr/>
          <p:nvPr/>
        </p:nvSpPr>
        <p:spPr>
          <a:xfrm>
            <a:off x="877824" y="5458968"/>
            <a:ext cx="10387584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Text 46"/>
          <p:cNvSpPr/>
          <p:nvPr/>
        </p:nvSpPr>
        <p:spPr>
          <a:xfrm>
            <a:off x="877824" y="563270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kern="0" spc="1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830" dirty="0"/>
          </a:p>
        </p:txBody>
      </p:sp>
      <p:sp>
        <p:nvSpPr>
          <p:cNvPr id="57" name="Shape 47"/>
          <p:cNvSpPr/>
          <p:nvPr/>
        </p:nvSpPr>
        <p:spPr>
          <a:xfrm>
            <a:off x="1847088" y="5577840"/>
            <a:ext cx="1225296" cy="274320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Text 48"/>
          <p:cNvSpPr/>
          <p:nvPr/>
        </p:nvSpPr>
        <p:spPr>
          <a:xfrm>
            <a:off x="192024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interruption time</a:t>
            </a:r>
            <a:endParaRPr lang="en-US" sz="680" dirty="0"/>
          </a:p>
        </p:txBody>
      </p:sp>
      <p:sp>
        <p:nvSpPr>
          <p:cNvPr id="59" name="Shape 49"/>
          <p:cNvSpPr/>
          <p:nvPr/>
        </p:nvSpPr>
        <p:spPr>
          <a:xfrm>
            <a:off x="3172968" y="5577840"/>
            <a:ext cx="1225296" cy="274320"/>
          </a:xfrm>
          <a:prstGeom prst="roundRect">
            <a:avLst/>
          </a:prstGeom>
          <a:solidFill>
            <a:srgbClr val="F4EEFF"/>
          </a:solidFill>
          <a:ln w="635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Text 50"/>
          <p:cNvSpPr/>
          <p:nvPr/>
        </p:nvSpPr>
        <p:spPr>
          <a:xfrm>
            <a:off x="324612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command latency</a:t>
            </a:r>
            <a:endParaRPr lang="en-US" sz="680" dirty="0"/>
          </a:p>
        </p:txBody>
      </p:sp>
      <p:sp>
        <p:nvSpPr>
          <p:cNvPr id="61" name="Shape 51"/>
          <p:cNvSpPr/>
          <p:nvPr/>
        </p:nvSpPr>
        <p:spPr>
          <a:xfrm>
            <a:off x="4498848" y="5577840"/>
            <a:ext cx="1225296" cy="274320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Text 52"/>
          <p:cNvSpPr/>
          <p:nvPr/>
        </p:nvSpPr>
        <p:spPr>
          <a:xfrm>
            <a:off x="457200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misses</a:t>
            </a:r>
            <a:endParaRPr lang="en-US" sz="680" dirty="0"/>
          </a:p>
        </p:txBody>
      </p:sp>
      <p:sp>
        <p:nvSpPr>
          <p:cNvPr id="63" name="Shape 53"/>
          <p:cNvSpPr/>
          <p:nvPr/>
        </p:nvSpPr>
        <p:spPr>
          <a:xfrm>
            <a:off x="5824728" y="5577840"/>
            <a:ext cx="1225296" cy="274320"/>
          </a:xfrm>
          <a:prstGeom prst="roundRect">
            <a:avLst/>
          </a:prstGeom>
          <a:solidFill>
            <a:srgbClr val="F4EEFF"/>
          </a:solidFill>
          <a:ln w="635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Text 54"/>
          <p:cNvSpPr/>
          <p:nvPr/>
        </p:nvSpPr>
        <p:spPr>
          <a:xfrm>
            <a:off x="589788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stall time</a:t>
            </a:r>
            <a:endParaRPr lang="en-US" sz="680" dirty="0"/>
          </a:p>
        </p:txBody>
      </p:sp>
      <p:sp>
        <p:nvSpPr>
          <p:cNvPr id="65" name="Shape 55"/>
          <p:cNvSpPr/>
          <p:nvPr/>
        </p:nvSpPr>
        <p:spPr>
          <a:xfrm>
            <a:off x="7150608" y="5577840"/>
            <a:ext cx="1225296" cy="274320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Text 56"/>
          <p:cNvSpPr/>
          <p:nvPr/>
        </p:nvSpPr>
        <p:spPr>
          <a:xfrm>
            <a:off x="722376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age</a:t>
            </a:r>
            <a:endParaRPr lang="en-US" sz="680" dirty="0"/>
          </a:p>
        </p:txBody>
      </p:sp>
      <p:sp>
        <p:nvSpPr>
          <p:cNvPr id="67" name="Shape 57"/>
          <p:cNvSpPr/>
          <p:nvPr/>
        </p:nvSpPr>
        <p:spPr>
          <a:xfrm>
            <a:off x="8476488" y="5577840"/>
            <a:ext cx="1225296" cy="274320"/>
          </a:xfrm>
          <a:prstGeom prst="roundRect">
            <a:avLst/>
          </a:prstGeom>
          <a:solidFill>
            <a:srgbClr val="F4EEFF"/>
          </a:solidFill>
          <a:ln w="635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Text 58"/>
          <p:cNvSpPr/>
          <p:nvPr/>
        </p:nvSpPr>
        <p:spPr>
          <a:xfrm>
            <a:off x="854964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MB</a:t>
            </a:r>
            <a:endParaRPr lang="en-US" sz="680" dirty="0"/>
          </a:p>
        </p:txBody>
      </p:sp>
      <p:sp>
        <p:nvSpPr>
          <p:cNvPr id="69" name="Shape 59"/>
          <p:cNvSpPr/>
          <p:nvPr/>
        </p:nvSpPr>
        <p:spPr>
          <a:xfrm>
            <a:off x="9802368" y="5577840"/>
            <a:ext cx="1225296" cy="274320"/>
          </a:xfrm>
          <a:prstGeom prst="roundRect">
            <a:avLst/>
          </a:prstGeom>
          <a:solidFill>
            <a:srgbClr val="EEF5FF"/>
          </a:solidFill>
          <a:ln w="635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Text 60"/>
          <p:cNvSpPr/>
          <p:nvPr/>
        </p:nvSpPr>
        <p:spPr>
          <a:xfrm>
            <a:off x="9875520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unnecessary handoffs</a:t>
            </a:r>
            <a:endParaRPr lang="en-US" sz="680" dirty="0"/>
          </a:p>
        </p:txBody>
      </p:sp>
      <p:sp>
        <p:nvSpPr>
          <p:cNvPr id="71" name="Text 61"/>
          <p:cNvSpPr/>
          <p:nvPr/>
        </p:nvSpPr>
        <p:spPr>
          <a:xfrm>
            <a:off x="658368" y="6254496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8A96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results are measured and reproducible. Linux MPTCP and Mininet-WiFi emulation remain planned; they are not verified on the current host.</a:t>
            </a:r>
            <a:endParaRPr lang="en-US" sz="680" dirty="0"/>
          </a:p>
        </p:txBody>
      </p:sp>
      <p:sp>
        <p:nvSpPr>
          <p:cNvPr id="72" name="Shape 62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Text 63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TEAM KANBAN</a:t>
            </a:r>
            <a:endParaRPr lang="en-US" sz="750" dirty="0"/>
          </a:p>
        </p:txBody>
      </p:sp>
      <p:sp>
        <p:nvSpPr>
          <p:cNvPr id="74" name="Text 64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" y="411480"/>
            <a:ext cx="45720" cy="868680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429768" y="941832"/>
            <a:ext cx="45720" cy="33832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21792" y="384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6217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working prototype to field-ready continuity.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means better mission experience, smarter use of scarce links and evidence that can be reproduced.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" y="1664208"/>
            <a:ext cx="2880360" cy="1216152"/>
          </a:xfrm>
          <a:prstGeom prst="roundRect">
            <a:avLst>
              <a:gd name="adj" fmla="val 10526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" y="21259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26464" y="1874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 continuity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426464" y="2185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critical control, telemetry and video usable as the access network changes.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730752" y="1664208"/>
            <a:ext cx="2880360" cy="1216152"/>
          </a:xfrm>
          <a:prstGeom prst="roundRect">
            <a:avLst>
              <a:gd name="adj" fmla="val 10526"/>
            </a:avLst>
          </a:prstGeom>
          <a:solidFill>
            <a:srgbClr val="F1F1FF"/>
          </a:solidFill>
          <a:ln w="10160">
            <a:solidFill>
              <a:srgbClr val="D6D5F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0"/>
          <p:cNvSpPr/>
          <p:nvPr/>
        </p:nvSpPr>
        <p:spPr>
          <a:xfrm>
            <a:off x="3931920" y="2011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5B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6220" y="21259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35424" y="1874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bandwidth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35424" y="2185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satellite and duplicated traffic only when risk and application priority justify it.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839712" y="1664208"/>
            <a:ext cx="2880360" cy="1216152"/>
          </a:xfrm>
          <a:prstGeom prst="roundRect">
            <a:avLst>
              <a:gd name="adj" fmla="val 10526"/>
            </a:avLst>
          </a:prstGeom>
          <a:solidFill>
            <a:srgbClr val="F4EEFF"/>
          </a:solidFill>
          <a:ln w="10160">
            <a:solidFill>
              <a:srgbClr val="D7C8F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4"/>
          <p:cNvSpPr/>
          <p:nvPr/>
        </p:nvSpPr>
        <p:spPr>
          <a:xfrm>
            <a:off x="7040880" y="2011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5180" y="21259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44384" y="1874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automation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644384" y="2185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operators what changed, why a handoff occurred and how confident the system was.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9948672" y="1664208"/>
            <a:ext cx="1645920" cy="1216152"/>
          </a:xfrm>
          <a:prstGeom prst="roundRect">
            <a:avLst>
              <a:gd name="adj" fmla="val 10526"/>
            </a:avLst>
          </a:prstGeom>
          <a:solidFill>
            <a:srgbClr val="ECFBF5"/>
          </a:solidFill>
          <a:ln w="10160">
            <a:solidFill>
              <a:srgbClr val="C7F0DF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Text 18"/>
          <p:cNvSpPr/>
          <p:nvPr/>
        </p:nvSpPr>
        <p:spPr>
          <a:xfrm>
            <a:off x="10149840" y="1865376"/>
            <a:ext cx="1207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100" dirty="0">
                <a:solidFill>
                  <a:srgbClr val="0AB6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10104120" y="2139696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application reconnects in supported handoffs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621792" y="3163824"/>
            <a:ext cx="746150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7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6" name="Text 21"/>
          <p:cNvSpPr/>
          <p:nvPr/>
        </p:nvSpPr>
        <p:spPr>
          <a:xfrm>
            <a:off x="877824" y="340156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10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ROADMAP - COMPLETE</a:t>
            </a:r>
            <a:endParaRPr lang="en-US" sz="840" dirty="0"/>
          </a:p>
        </p:txBody>
      </p:sp>
      <p:sp>
        <p:nvSpPr>
          <p:cNvPr id="27" name="Shape 22"/>
          <p:cNvSpPr/>
          <p:nvPr/>
        </p:nvSpPr>
        <p:spPr>
          <a:xfrm>
            <a:off x="1165860" y="4251960"/>
            <a:ext cx="5801868" cy="0"/>
          </a:xfrm>
          <a:prstGeom prst="line">
            <a:avLst/>
          </a:prstGeom>
          <a:noFill/>
          <a:ln w="25400">
            <a:solidFill>
              <a:srgbClr val="B9CDE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hape 23"/>
          <p:cNvSpPr/>
          <p:nvPr/>
        </p:nvSpPr>
        <p:spPr>
          <a:xfrm>
            <a:off x="1115568" y="3977640"/>
            <a:ext cx="512064" cy="51206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9B9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4"/>
          <p:cNvSpPr/>
          <p:nvPr/>
        </p:nvSpPr>
        <p:spPr>
          <a:xfrm>
            <a:off x="1115568" y="41330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9B9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40" dirty="0"/>
          </a:p>
        </p:txBody>
      </p:sp>
      <p:sp>
        <p:nvSpPr>
          <p:cNvPr id="30" name="Text 25"/>
          <p:cNvSpPr/>
          <p:nvPr/>
        </p:nvSpPr>
        <p:spPr>
          <a:xfrm>
            <a:off x="768096" y="45902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&amp; emulator</a:t>
            </a:r>
            <a:endParaRPr lang="en-US" sz="830" dirty="0"/>
          </a:p>
        </p:txBody>
      </p:sp>
      <p:sp>
        <p:nvSpPr>
          <p:cNvPr id="31" name="Shape 26"/>
          <p:cNvSpPr/>
          <p:nvPr/>
        </p:nvSpPr>
        <p:spPr>
          <a:xfrm>
            <a:off x="2450592" y="3977640"/>
            <a:ext cx="512064" cy="51206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176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27"/>
          <p:cNvSpPr/>
          <p:nvPr/>
        </p:nvSpPr>
        <p:spPr>
          <a:xfrm>
            <a:off x="2450592" y="41330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40" dirty="0"/>
          </a:p>
        </p:txBody>
      </p:sp>
      <p:sp>
        <p:nvSpPr>
          <p:cNvPr id="33" name="Text 28"/>
          <p:cNvSpPr/>
          <p:nvPr/>
        </p:nvSpPr>
        <p:spPr>
          <a:xfrm>
            <a:off x="2103120" y="45902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MPTCP &amp; gateway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3785616" y="3977640"/>
            <a:ext cx="512064" cy="51206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5A5BE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0"/>
          <p:cNvSpPr/>
          <p:nvPr/>
        </p:nvSpPr>
        <p:spPr>
          <a:xfrm>
            <a:off x="3785616" y="41330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5A5B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40" dirty="0"/>
          </a:p>
        </p:txBody>
      </p:sp>
      <p:sp>
        <p:nvSpPr>
          <p:cNvPr id="36" name="Text 31"/>
          <p:cNvSpPr/>
          <p:nvPr/>
        </p:nvSpPr>
        <p:spPr>
          <a:xfrm>
            <a:off x="3438144" y="45902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Predictor &amp; policy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5120640" y="3977640"/>
            <a:ext cx="512064" cy="51206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4DE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3"/>
          <p:cNvSpPr/>
          <p:nvPr/>
        </p:nvSpPr>
        <p:spPr>
          <a:xfrm>
            <a:off x="5120640" y="41330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D4D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40" dirty="0"/>
          </a:p>
        </p:txBody>
      </p:sp>
      <p:sp>
        <p:nvSpPr>
          <p:cNvPr id="39" name="Text 34"/>
          <p:cNvSpPr/>
          <p:nvPr/>
        </p:nvSpPr>
        <p:spPr>
          <a:xfrm>
            <a:off x="4773168" y="45902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integration</a:t>
            </a:r>
            <a:endParaRPr lang="en-US" sz="830" dirty="0"/>
          </a:p>
        </p:txBody>
      </p:sp>
      <p:sp>
        <p:nvSpPr>
          <p:cNvPr id="40" name="Shape 35"/>
          <p:cNvSpPr/>
          <p:nvPr/>
        </p:nvSpPr>
        <p:spPr>
          <a:xfrm>
            <a:off x="6455664" y="3977640"/>
            <a:ext cx="512064" cy="51206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7B3FF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6"/>
          <p:cNvSpPr/>
          <p:nvPr/>
        </p:nvSpPr>
        <p:spPr>
          <a:xfrm>
            <a:off x="6455664" y="41330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40" dirty="0"/>
          </a:p>
        </p:txBody>
      </p:sp>
      <p:sp>
        <p:nvSpPr>
          <p:cNvPr id="42" name="Text 37"/>
          <p:cNvSpPr/>
          <p:nvPr/>
        </p:nvSpPr>
        <p:spPr>
          <a:xfrm>
            <a:off x="6108192" y="45902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Experiments &amp; video</a:t>
            </a:r>
            <a:endParaRPr lang="en-US" sz="830" dirty="0"/>
          </a:p>
        </p:txBody>
      </p:sp>
      <p:sp>
        <p:nvSpPr>
          <p:cNvPr id="53" name="Shape 47"/>
          <p:cNvSpPr/>
          <p:nvPr/>
        </p:nvSpPr>
        <p:spPr>
          <a:xfrm>
            <a:off x="621792" y="5404104"/>
            <a:ext cx="1097280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  <a:effectLst>
            <a:outerShdw blurRad="25400" dist="12700" dir="2700000" algn="bl" rotWithShape="0">
              <a:srgbClr val="AAB8CC">
                <a:alpha val="11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4" name="Shape 48"/>
          <p:cNvSpPr/>
          <p:nvPr/>
        </p:nvSpPr>
        <p:spPr>
          <a:xfrm>
            <a:off x="877824" y="5568696"/>
            <a:ext cx="36576" cy="448056"/>
          </a:xfrm>
          <a:prstGeom prst="rect">
            <a:avLst/>
          </a:prstGeom>
          <a:solidFill>
            <a:srgbClr val="1769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5" name="Shape 49"/>
          <p:cNvSpPr/>
          <p:nvPr/>
        </p:nvSpPr>
        <p:spPr>
          <a:xfrm>
            <a:off x="877824" y="5861304"/>
            <a:ext cx="36576" cy="155448"/>
          </a:xfrm>
          <a:prstGeom prst="rect">
            <a:avLst/>
          </a:prstGeom>
          <a:solidFill>
            <a:srgbClr val="7B3F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Text 50"/>
          <p:cNvSpPr/>
          <p:nvPr/>
        </p:nvSpPr>
        <p:spPr>
          <a:xfrm>
            <a:off x="1143000" y="56372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50" b="1" kern="0" spc="100" dirty="0">
                <a:solidFill>
                  <a:srgbClr val="176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</a:t>
            </a:r>
            <a:r>
              <a:rPr lang="en-US" sz="2150" b="1" kern="0" spc="10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</a:t>
            </a:r>
            <a:endParaRPr lang="en-US" sz="2150" dirty="0"/>
          </a:p>
        </p:txBody>
      </p:sp>
      <p:sp>
        <p:nvSpPr>
          <p:cNvPr id="57" name="Text 51"/>
          <p:cNvSpPr/>
          <p:nvPr/>
        </p:nvSpPr>
        <p:spPr>
          <a:xfrm>
            <a:off x="3383280" y="56509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changes. The session does not.</a:t>
            </a:r>
            <a:endParaRPr lang="en-US" sz="1120" dirty="0"/>
          </a:p>
        </p:txBody>
      </p:sp>
      <p:sp>
        <p:nvSpPr>
          <p:cNvPr id="58" name="Text 52"/>
          <p:cNvSpPr/>
          <p:nvPr/>
        </p:nvSpPr>
        <p:spPr>
          <a:xfrm>
            <a:off x="8869680" y="559612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20" b="1" dirty="0">
                <a:solidFill>
                  <a:srgbClr val="111C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Team Kanban</a:t>
            </a:r>
            <a:endParaRPr lang="en-US" sz="1620" dirty="0"/>
          </a:p>
        </p:txBody>
      </p:sp>
      <p:sp>
        <p:nvSpPr>
          <p:cNvPr id="59" name="Shape 53"/>
          <p:cNvSpPr/>
          <p:nvPr/>
        </p:nvSpPr>
        <p:spPr>
          <a:xfrm>
            <a:off x="566928" y="6455664"/>
            <a:ext cx="10744200" cy="0"/>
          </a:xfrm>
          <a:prstGeom prst="line">
            <a:avLst/>
          </a:prstGeom>
          <a:noFill/>
          <a:ln w="8890">
            <a:solidFill>
              <a:srgbClr val="E9EE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Text 54"/>
          <p:cNvSpPr/>
          <p:nvPr/>
        </p:nvSpPr>
        <p:spPr>
          <a:xfrm>
            <a:off x="603504" y="651052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CONTINUA | ADVANCED TECHNOLOGY PIONEERS 2026</a:t>
            </a:r>
            <a:endParaRPr lang="en-US" sz="750" dirty="0"/>
          </a:p>
        </p:txBody>
      </p:sp>
      <p:sp>
        <p:nvSpPr>
          <p:cNvPr id="61" name="Text 55"/>
          <p:cNvSpPr/>
          <p:nvPr/>
        </p:nvSpPr>
        <p:spPr>
          <a:xfrm>
            <a:off x="11109960" y="649224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D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928CA07-EF2B-CD49-6646-911351C0B7F6}"/>
              </a:ext>
            </a:extLst>
          </p:cNvPr>
          <p:cNvSpPr/>
          <p:nvPr/>
        </p:nvSpPr>
        <p:spPr>
          <a:xfrm flipV="1">
            <a:off x="2348266" y="5596128"/>
            <a:ext cx="204652" cy="45719"/>
          </a:xfrm>
          <a:prstGeom prst="roundRect">
            <a:avLst/>
          </a:prstGeom>
          <a:solidFill>
            <a:srgbClr val="7B3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5" name="Shape 38">
            <a:extLst>
              <a:ext uri="{FF2B5EF4-FFF2-40B4-BE49-F238E27FC236}">
                <a16:creationId xmlns:a16="http://schemas.microsoft.com/office/drawing/2014/main" id="{CBF9D946-0A70-87AE-30F8-AA0C90F2ED7B}"/>
              </a:ext>
            </a:extLst>
          </p:cNvPr>
          <p:cNvSpPr/>
          <p:nvPr/>
        </p:nvSpPr>
        <p:spPr>
          <a:xfrm>
            <a:off x="8321040" y="3163824"/>
            <a:ext cx="3273552" cy="1060704"/>
          </a:xfrm>
          <a:prstGeom prst="roundRect">
            <a:avLst>
              <a:gd name="adj" fmla="val 12069"/>
            </a:avLst>
          </a:prstGeom>
          <a:solidFill>
            <a:srgbClr val="FBFCFF"/>
          </a:solidFill>
          <a:ln w="10160">
            <a:solidFill>
              <a:srgbClr val="DCE5F1"/>
            </a:solidFill>
            <a:prstDash val="solid"/>
          </a:ln>
          <a:effectLst>
            <a:outerShdw blurRad="25400" dist="12700" dir="2700000" algn="bl" rotWithShape="0">
              <a:srgbClr val="AAB8CC">
                <a:alpha val="6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494B1A5E-5903-EB71-6B43-0839630F1114}"/>
              </a:ext>
            </a:extLst>
          </p:cNvPr>
          <p:cNvSpPr/>
          <p:nvPr/>
        </p:nvSpPr>
        <p:spPr>
          <a:xfrm>
            <a:off x="8577072" y="3374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kern="0" spc="90" dirty="0">
                <a:solidFill>
                  <a:srgbClr val="7B3F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DEFINITION</a:t>
            </a:r>
            <a:endParaRPr lang="en-US" sz="810" dirty="0"/>
          </a:p>
        </p:txBody>
      </p:sp>
      <p:sp>
        <p:nvSpPr>
          <p:cNvPr id="69" name="Shape 40">
            <a:extLst>
              <a:ext uri="{FF2B5EF4-FFF2-40B4-BE49-F238E27FC236}">
                <a16:creationId xmlns:a16="http://schemas.microsoft.com/office/drawing/2014/main" id="{13E33613-61BC-58AC-34BB-338EA0492AFB}"/>
              </a:ext>
            </a:extLst>
          </p:cNvPr>
          <p:cNvSpPr/>
          <p:nvPr/>
        </p:nvSpPr>
        <p:spPr>
          <a:xfrm>
            <a:off x="8577072" y="3730752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Text 41">
            <a:extLst>
              <a:ext uri="{FF2B5EF4-FFF2-40B4-BE49-F238E27FC236}">
                <a16:creationId xmlns:a16="http://schemas.microsoft.com/office/drawing/2014/main" id="{111470C5-4C59-0E26-A7D4-E635CA43976D}"/>
              </a:ext>
            </a:extLst>
          </p:cNvPr>
          <p:cNvSpPr/>
          <p:nvPr/>
        </p:nvSpPr>
        <p:spPr>
          <a:xfrm>
            <a:off x="8750808" y="3657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interruption and command deadline misses than baselines</a:t>
            </a:r>
            <a:endParaRPr lang="en-US" sz="840" dirty="0"/>
          </a:p>
        </p:txBody>
      </p:sp>
      <p:sp>
        <p:nvSpPr>
          <p:cNvPr id="73" name="Shape 42">
            <a:extLst>
              <a:ext uri="{FF2B5EF4-FFF2-40B4-BE49-F238E27FC236}">
                <a16:creationId xmlns:a16="http://schemas.microsoft.com/office/drawing/2014/main" id="{1531C079-DB92-101E-BC48-881B7A589155}"/>
              </a:ext>
            </a:extLst>
          </p:cNvPr>
          <p:cNvSpPr/>
          <p:nvPr/>
        </p:nvSpPr>
        <p:spPr>
          <a:xfrm>
            <a:off x="8577072" y="3995928"/>
            <a:ext cx="73152" cy="7315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D6A2516D-5292-024F-6807-A3BE3FBB2B43}"/>
              </a:ext>
            </a:extLst>
          </p:cNvPr>
          <p:cNvSpPr/>
          <p:nvPr/>
        </p:nvSpPr>
        <p:spPr>
          <a:xfrm>
            <a:off x="8750808" y="392277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14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satellite use than always-on redundancy</a:t>
            </a:r>
            <a:endParaRPr lang="en-US" sz="840" dirty="0"/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B18B41F8-7853-D1D3-DDB9-8355634B214D}"/>
              </a:ext>
            </a:extLst>
          </p:cNvPr>
          <p:cNvSpPr/>
          <p:nvPr/>
        </p:nvSpPr>
        <p:spPr>
          <a:xfrm>
            <a:off x="8321040" y="4370832"/>
            <a:ext cx="3273552" cy="804672"/>
          </a:xfrm>
          <a:prstGeom prst="roundRect">
            <a:avLst>
              <a:gd name="adj" fmla="val 15909"/>
            </a:avLst>
          </a:prstGeom>
          <a:solidFill>
            <a:srgbClr val="FFF7E8"/>
          </a:solidFill>
          <a:ln w="10160">
            <a:solidFill>
              <a:srgbClr val="F0DDA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9" name="Image 3" descr="preencoded.png">
            <a:extLst>
              <a:ext uri="{FF2B5EF4-FFF2-40B4-BE49-F238E27FC236}">
                <a16:creationId xmlns:a16="http://schemas.microsoft.com/office/drawing/2014/main" id="{E5EC0F49-9091-F3C5-591F-A3006DEA9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7928" y="4581144"/>
            <a:ext cx="219456" cy="219456"/>
          </a:xfrm>
          <a:prstGeom prst="rect">
            <a:avLst/>
          </a:prstGeom>
        </p:spPr>
      </p:pic>
      <p:sp>
        <p:nvSpPr>
          <p:cNvPr id="81" name="Text 45">
            <a:extLst>
              <a:ext uri="{FF2B5EF4-FFF2-40B4-BE49-F238E27FC236}">
                <a16:creationId xmlns:a16="http://schemas.microsoft.com/office/drawing/2014/main" id="{60D14007-0B90-1142-2B36-9A8D17D22490}"/>
              </a:ext>
            </a:extLst>
          </p:cNvPr>
          <p:cNvSpPr/>
          <p:nvPr/>
        </p:nvSpPr>
        <p:spPr>
          <a:xfrm>
            <a:off x="8942832" y="44897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kern="0" spc="80" dirty="0">
                <a:solidFill>
                  <a:srgbClr val="8A64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DECLARATION</a:t>
            </a:r>
            <a:endParaRPr lang="en-US" sz="770" dirty="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74BB6BFB-F6F5-B85E-3792-C91FD1378783}"/>
              </a:ext>
            </a:extLst>
          </p:cNvPr>
          <p:cNvSpPr/>
          <p:nvPr/>
        </p:nvSpPr>
        <p:spPr>
          <a:xfrm>
            <a:off x="8942832" y="4709160"/>
            <a:ext cx="2295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0" dirty="0">
                <a:solidFill>
                  <a:srgbClr val="6E54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tools support ideation. The team does coding, documentation and validates every architecture decision, experiment, result and conclusion.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1876</Words>
  <Application>Microsoft Office PowerPoint</Application>
  <PresentationFormat>Widescreen</PresentationFormat>
  <Paragraphs>277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Kanban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CONTINUA - Predictive Network Continuity</dc:title>
  <dc:subject>Advanced Technology Pioneers 2026 - EDGE Challenge Proposal</dc:subject>
  <dc:creator>Team Kanban</dc:creator>
  <cp:lastModifiedBy>Awaiz Ahmed</cp:lastModifiedBy>
  <cp:revision>9</cp:revision>
  <dcterms:created xsi:type="dcterms:W3CDTF">2026-09-04T18:07:38Z</dcterms:created>
  <dcterms:modified xsi:type="dcterms:W3CDTF">2026-09-10T11:26:32Z</dcterms:modified>
</cp:coreProperties>
</file>